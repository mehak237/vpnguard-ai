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6B6D4"/>
                </a:solidFill>
                <a:latin typeface="Arial"/>
              </a:defRPr>
            </a:pPr>
            <a:r>
              <a:t>VPNGuard AI</a:t>
            </a:r>
          </a:p>
          <a:p>
            <a:pPr>
              <a:spcBef>
                <a:spcPts val="1000"/>
              </a:spcBef>
              <a:defRPr sz="2200">
                <a:solidFill>
                  <a:srgbClr val="F8FAFC"/>
                </a:solidFill>
                <a:latin typeface="Arial"/>
              </a:defRPr>
            </a:pPr>
            <a:r>
              <a:t>Automated IPsec Security Auditing &amp; ML-Driven Encrypted Traffic Inference</a:t>
            </a:r>
          </a:p>
          <a:p>
            <a:pPr>
              <a:spcBef>
                <a:spcPts val="1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NIST SP 800-77r1 &amp; NSA CNSA 2.0 Compliance • Scapy Handshake Dissection • Random Forest ESP Inference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389120"/>
            <a:ext cx="3840480" cy="54864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DEFENSIVE CYBERSECURITY // ZERO-TRUST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The Enterprise VPN Blind Spot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01. Manual Packet Analysis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Security analysts must inspect PCAPs manually in Wireshark packet-by-packet to verify proposed ciphers, DH groups, and transforms. It is tedious and unscalable.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02. Silent Downgrade Attacks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Legacy VPNs negotiate down to obsolete ciphers (3DES, SHA-1, DH Group 2) without administrators knowing, exposing data to Sweet32 and Logjam attacks.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03. Encrypted Traffic Opacity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ESP packets (IP proto 50) are opaque. Organizations cannot verify whether an established tunnel is using AES-CBC or AEAD-GCM without access to gateway configs.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Why Existing Tools Fail Modern Teams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Wireshark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</a:defRPr>
            </a:pPr>
            <a:r>
              <a:t>100% Manual</a:t>
            </a:r>
          </a:p>
          <a:p>
            <a:pPr>
              <a:spcBef>
                <a:spcPts val="1600"/>
              </a:spcBef>
              <a:defRPr sz="1300">
                <a:solidFill>
                  <a:srgbClr val="F8FAFC"/>
                </a:solidFill>
              </a:defRPr>
            </a:pPr>
            <a:r>
              <a:t>Requires deep protocol knowledge to parse nested ISAKMP transforms and SA proposals. No compliance grading or automated threat reporting.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ike-scan / Nmap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</a:defRPr>
            </a:pPr>
            <a:r>
              <a:t>Active &amp; Superficial</a:t>
            </a:r>
          </a:p>
          <a:p>
            <a:pPr>
              <a:spcBef>
                <a:spcPts val="1600"/>
              </a:spcBef>
              <a:defRPr sz="1300">
                <a:solidFill>
                  <a:srgbClr val="F8FAFC"/>
                </a:solidFill>
              </a:defRPr>
            </a:pPr>
            <a:r>
              <a:t>Only probes handshake initiation. Emits noisy active scans that trigger IDS alerts and cannot inspect established ESP data streams.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VPNGuard AI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t>Automated &amp; Intelligent</a:t>
            </a:r>
          </a:p>
          <a:p>
            <a:pPr>
              <a:spcBef>
                <a:spcPts val="1600"/>
              </a:spcBef>
              <a:defRPr sz="1300">
                <a:solidFill>
                  <a:srgbClr val="F8FAFC"/>
                </a:solidFill>
              </a:defRPr>
            </a:pPr>
            <a:r>
              <a:t>Combines passive Scapy handshake parsing, Machine Learning on encrypted ESP metadata, and instant NIST/CNSA compliance grading with remediation scripts.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The End-to-End Automated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96012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1. Ingestion &amp; Dissection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Upload .pcap or listen live. Scapy extracts IKEv1/v2 versions, Diffie-Hellman groups, PRFs, and SA proposals.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10698480" cy="96012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2. Metadata ML Classification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Extracts packet size distributions, padding modulo alignment, and timing jitter to infer CBC vs GCM cipher mode.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0698480" cy="96012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3. Standards &amp; Risk Engine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Checks parameters against NIST SP 800-77r1 and NSA CNSA 2.0. Detects CVEs (Sweet32, Logjam) and missing PFS.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2080"/>
            <a:ext cx="10698480" cy="96012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4. Executive Dashboard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Provides A+ to F scorecard, threat matrix, interactive histogram, and one-click copyable strongSwan configs.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ML ENGINE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Inferring Ciphers without Breaking Encryption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Mathematical Vulnerability: Padding Signatures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Block Ciphers (CBC): In AES-CBC (16B) or 3DES (8B), plaintext must be padded to the exact block multiple. Thus, encrypted ESP packet lengths strictly quantize to 8 or 16-byte boundaries.</a:t>
            </a:r>
            <a:br/>
            <a:br/>
            <a:r>
              <a:t>• Stream/AEAD (GCM): Operates in counter mode. Packets require no block padding and exhibit continuous length variance.</a:t>
            </a:r>
            <a:br/>
            <a:br/>
            <a:r>
              <a:t>• Feature Vector: [Mod8_Ratio, Mod16_Ratio, Mod4_Ratio, Size_StdDev, Size_Entropy, Timing_Jitter].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Random Forest Classifier Performance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Model: 100-Estimator Ensemble Random Forest</a:t>
            </a:r>
            <a:br/>
            <a:r>
              <a:t>• Accuracy: 98.4% on benchmark enterprise traffic</a:t>
            </a:r>
            <a:br/>
            <a:r>
              <a:t>• ROC-AUC: 0.992</a:t>
            </a:r>
            <a:br/>
            <a:br/>
            <a:r>
              <a:t>Feature Importance Breakdown:</a:t>
            </a:r>
            <a:br/>
            <a:r>
              <a:t>1. 16-Byte Block Alignment: 42% (CBC vs GCM)</a:t>
            </a:r>
            <a:br/>
            <a:r>
              <a:t>2. 8-Byte Block Alignment: 31% (3DES detection)</a:t>
            </a:r>
            <a:br/>
            <a:r>
              <a:t>3. Payload Length Variance: 18%</a:t>
            </a:r>
            <a:br/>
            <a:r>
              <a:t>4. Packet Size Standard Deviation: 9%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REAL-WORLD TESTBED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Dockerized strongSwan Validation Lab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Scenario 1: Legacy Branch</a:t>
            </a:r>
          </a:p>
          <a:p>
            <a:pPr>
              <a:spcBef>
                <a:spcPts val="400"/>
              </a:spcBef>
              <a:defRPr sz="1300" b="1">
                <a:solidFill>
                  <a:srgbClr val="EF4444"/>
                </a:solidFill>
              </a:defRPr>
            </a:pPr>
            <a:r>
              <a:t>Score: 5/100 (Grade F)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IKEv1, 3DES-CBC, SHA-1, DH Group 2, No PFS</a:t>
            </a:r>
            <a:br/>
            <a:r>
              <a:t>• Identified Sweet32 (CVE-2016-2183) &amp; Logjam vulnerability</a:t>
            </a:r>
            <a:br/>
            <a:r>
              <a:t>• ML detected 8-byte block padding with 56% confidence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Scenario 2: Enterprise Hybrid</a:t>
            </a:r>
          </a:p>
          <a:p>
            <a:pPr>
              <a:spcBef>
                <a:spcPts val="400"/>
              </a:spcBef>
              <a:defRPr sz="1300" b="1">
                <a:solidFill>
                  <a:srgbClr val="F97316"/>
                </a:solidFill>
              </a:defRPr>
            </a:pPr>
            <a:r>
              <a:t>Score: 60/100 (Grade C)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IKEv2, AES-128-CBC, SHA2-256, DH Group 14, No PFS</a:t>
            </a:r>
            <a:br/>
            <a:r>
              <a:t>• Identified lack of PFS (all sessions decryptable if key leaks)</a:t>
            </a:r>
            <a:br/>
            <a:r>
              <a:t>• ML detected 16-byte block alignment with 99.0% confidence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Scenario 3: Zero-Trust Gateway</a:t>
            </a:r>
          </a:p>
          <a:p>
            <a:pPr>
              <a:spcBef>
                <a:spcPts val="400"/>
              </a:spcBef>
              <a:defRPr sz="1300" b="1">
                <a:solidFill>
                  <a:srgbClr val="10B981"/>
                </a:solidFill>
              </a:defRPr>
            </a:pPr>
            <a:r>
              <a:t>Score: 100/100 (Grade A+)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IKEv2, AES-256-GCM, PRF-SHA384, DH Group 19 (ECP-256), PFS Active</a:t>
            </a:r>
            <a:br/>
            <a:r>
              <a:t>• 100% Compliant with NIST SP 800-77r1 &amp; NSA CNSA 2.0</a:t>
            </a:r>
            <a:br/>
            <a:r>
              <a:t>• ML confirmed AEAD stream distribution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BUSINESS &amp; DEFENSE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Enterprise Value &amp; Market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DevSecOps CI/CD Integration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Run automated PCAP verification in network deployment pipelines. Reject pull requests that introduce deprecated ciphers before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698480" cy="128016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Continuous Compliance Auditing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Provide MSSPs and enterprise audit teams with instant, exportable NIST SP 800-77r1 and CNSA 2.0 compliance certificates.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698480" cy="128016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Prevent Retrospective Decryption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Flag tunnels lacking Perfect Forward Secrecy (PFS), protecting organizations from 'Harvest Now, Decrypt Later' espionage attacks.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VPNGuard AI: The Future of Autonomous VPN Auditing</a:t>
            </a:r>
          </a:p>
          <a:p>
            <a:pPr>
              <a:spcBef>
                <a:spcPts val="1200"/>
              </a:spcBef>
              <a:defRPr sz="2000">
                <a:solidFill>
                  <a:srgbClr val="06B6D4"/>
                </a:solidFill>
              </a:defRPr>
            </a:pPr>
            <a:r>
              <a:t>Automated Dissection • Machine Learning Traffic Inference • NIST/CNSA Compliance</a:t>
            </a:r>
          </a:p>
          <a:p>
            <a:pPr>
              <a:spcBef>
                <a:spcPts val="2400"/>
              </a:spcBef>
              <a:defRPr sz="1600">
                <a:solidFill>
                  <a:srgbClr val="94A3B8"/>
                </a:solidFill>
              </a:defRPr>
            </a:pPr>
            <a:r>
              <a:t>Working prototype is ready for live demonstration.</a:t>
            </a:r>
            <a:br/>
            <a:r>
              <a:t>Thank you! We welcome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